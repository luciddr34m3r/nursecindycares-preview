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3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896A"/>
                </a:solidFill>
                <a:latin typeface="Calibri"/>
              </a:rPr>
              <a:t>CERTIFIED 7 TYPES OF REST® FACILITATOR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You Can't Pour From
An Empty Cup.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2D4CC"/>
                </a:solidFill>
                <a:latin typeface="Calibri"/>
              </a:rPr>
              <a:t>Rest Science for Real People — Keynote &amp; Workshop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9EBE"/>
                </a:solidFill>
                <a:latin typeface="Calibri"/>
              </a:rPr>
              <a:t>Nurse Cindy  |  nursecindycares.com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6217920"/>
            <a:ext cx="4572000" cy="254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896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C2A4A"/>
                </a:solidFill>
                <a:latin typeface="Calibri"/>
              </a:rPr>
              <a:t>We're Exhausted. And Sleep Isn't Fixing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286000"/>
            <a:ext cx="91440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651760"/>
            <a:ext cx="3017520" cy="2560320"/>
          </a:xfrm>
          <a:prstGeom prst="rect">
            <a:avLst/>
          </a:prstGeom>
          <a:solidFill>
            <a:srgbClr val="2C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8896A"/>
                </a:solidFill>
                <a:latin typeface="Calibri"/>
              </a:rPr>
              <a:t>77%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of workers
experience burnout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651760"/>
            <a:ext cx="3017520" cy="2560320"/>
          </a:xfrm>
          <a:prstGeom prst="rect">
            <a:avLst/>
          </a:prstGeom>
          <a:solidFill>
            <a:srgbClr val="2C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8896A"/>
                </a:solidFill>
                <a:latin typeface="Calibri"/>
              </a:rPr>
              <a:t>67%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74903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say they sleep enough
but still feel tired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2651760"/>
            <a:ext cx="3017520" cy="2560320"/>
          </a:xfrm>
          <a:prstGeom prst="rect">
            <a:avLst/>
          </a:prstGeom>
          <a:solidFill>
            <a:srgbClr val="2C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2743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8896A"/>
                </a:solidFill>
                <a:latin typeface="Calibri"/>
              </a:rPr>
              <a:t>$322B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374903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lost annually to
burnout-related turnover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521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E8896A"/>
                </a:solidFill>
                <a:latin typeface="Calibri"/>
              </a:rPr>
              <a:t>The cause isn't lack of sleep. It's the wrong kind of rest.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3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896A"/>
                </a:solidFill>
                <a:latin typeface="Calibri"/>
              </a:rPr>
              <a:t>YOUR FACILITATOR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Nurse Cindy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896A"/>
                </a:solidFill>
                <a:latin typeface="Calibri"/>
              </a:rPr>
              <a:t>Certified 7 Types of Rest® Facilitator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137160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896A"/>
                </a:solidFill>
                <a:latin typeface="Calibri"/>
              </a:rPr>
              <a:t>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Oncology Nurse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AEC8"/>
                </a:solidFill>
                <a:latin typeface="Calibri"/>
              </a:rPr>
              <a:t>Frontline clinical experience across oncology and acute 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896A"/>
                </a:solidFill>
                <a:latin typeface="Calibri"/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97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Corporate Biotech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72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AEC8"/>
                </a:solidFill>
                <a:latin typeface="Calibri"/>
              </a:rPr>
              <a:t>Global industry background in life sciences and healthcare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896A"/>
                </a:solidFill>
                <a:latin typeface="Calibri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12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Certified Facilitator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486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AEC8"/>
                </a:solidFill>
                <a:latin typeface="Calibri"/>
              </a:rPr>
              <a:t>Trained under Dr. Saundra Dalton-Smith's research-backed 7 Types of Rest®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28600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2D4CC"/>
                </a:solidFill>
                <a:latin typeface="Calibri"/>
              </a:rPr>
              <a:t>"I bring a clinical, evidence-based lens to one of the most misunderstood forces in our lives: rest."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4864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896A"/>
                </a:solidFill>
                <a:latin typeface="Calibri"/>
              </a:rPr>
              <a:t>— Nurse Cindy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C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896A"/>
                </a:solidFill>
                <a:latin typeface="Calibri"/>
              </a:rPr>
              <a:t>REST REDEFINED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C2A4A"/>
                </a:solidFill>
                <a:latin typeface="Calibri"/>
              </a:rPr>
              <a:t>Rest Is Not Just Sleep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D3D3D"/>
                </a:solidFill>
                <a:latin typeface="Calibri"/>
              </a:rPr>
              <a:t>Most people treat rest as a single thing — sleep. But research by Dr. Saundra Dalton-Smith
identifies SEVEN distinct types of rest. Being deficient in even one leads to exhaustion
that no amount of sleep can cure.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5303520" cy="411480"/>
          </a:xfrm>
          <a:prstGeom prst="rect">
            <a:avLst/>
          </a:prstGeom>
          <a:solidFill>
            <a:srgbClr val="2C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Signs You Need More 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Calibri"/>
              </a:rPr>
              <a:t>• You sleep 7–8 hrs and still feel drained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Calibri"/>
              </a:rPr>
              <a:t>• You're irritable with people you love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Calibri"/>
              </a:rPr>
              <a:t>• Creativity feels blocked or flat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Calibri"/>
              </a:rPr>
              <a:t>• You feel numb or disconnected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23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Calibri"/>
              </a:rPr>
              <a:t>• Your to-do list never feels done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108960"/>
            <a:ext cx="5303520" cy="41148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What This Framework Delivers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Calibri"/>
              </a:rPr>
              <a:t>• Identify YOUR specific rest deficits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Calibri"/>
              </a:rPr>
              <a:t>• Match rest type to root cause of exhaustion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Calibri"/>
              </a:rPr>
              <a:t>• Build targeted, practical rest strategies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Calibri"/>
              </a:rPr>
              <a:t>• Sustainable — no life overhaul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5623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D3D"/>
                </a:solidFill>
                <a:latin typeface="Calibri"/>
              </a:rPr>
              <a:t>• Backed by research and clinical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98E"/>
                </a:solidFill>
                <a:latin typeface="Calibri"/>
              </a:rPr>
              <a:t>Type 1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  <a:latin typeface="Calibri"/>
              </a:rPr>
              <a:t>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548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Physical Rest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896A"/>
                </a:solidFill>
                <a:latin typeface="Calibri"/>
              </a:rPr>
              <a:t>The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6D8"/>
                </a:solidFill>
                <a:latin typeface="Calibri"/>
              </a:rPr>
              <a:t>Rest for the body — passive (sleep, naps) and active (yoga, stretching, breathwork). Most people stop here. Physical rest is necessary, but not sufficient.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D4CC"/>
                </a:solidFill>
                <a:latin typeface="Calibri"/>
              </a:rPr>
              <a:t>SIGNS OF DEFICIT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84448"/>
            <a:ext cx="5029200" cy="38100"/>
          </a:xfrm>
          <a:prstGeom prst="rect">
            <a:avLst/>
          </a:prstGeom>
          <a:solidFill>
            <a:srgbClr val="F2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Persistent physical fatigue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Muscle tension and soreness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66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Poor sleep quality despite hours in bed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896A"/>
                </a:solidFill>
                <a:latin typeface="Calibri"/>
              </a:rPr>
              <a:t>RECOVERY STRATEGIES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584448"/>
            <a:ext cx="502920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Prioritize sleep hygiene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348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Add gentle movement between intense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66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Schedule true recovery days — not just less-busy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98E"/>
                </a:solidFill>
                <a:latin typeface="Calibri"/>
              </a:rPr>
              <a:t>Type 2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548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Mental Rest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896A"/>
                </a:solidFill>
                <a:latin typeface="Calibri"/>
              </a:rPr>
              <a:t>Quiet the Mind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6D8"/>
                </a:solidFill>
                <a:latin typeface="Calibri"/>
              </a:rPr>
              <a:t>Relief for the overworked, decision-fatigued brain. Essential for high performers, managers, caregivers, and anyone who is always the person thinking.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D4CC"/>
                </a:solidFill>
                <a:latin typeface="Calibri"/>
              </a:rPr>
              <a:t>SIGNS OF DEFICIT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84448"/>
            <a:ext cx="5029200" cy="38100"/>
          </a:xfrm>
          <a:prstGeom prst="rect">
            <a:avLst/>
          </a:prstGeom>
          <a:solidFill>
            <a:srgbClr val="F2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Difficulty concentrating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Mental chatter that won't stop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66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Forgetting simple things, feeling foggy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896A"/>
                </a:solidFill>
                <a:latin typeface="Calibri"/>
              </a:rPr>
              <a:t>RECOVERY STRATEGIES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584448"/>
            <a:ext cx="502920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Set a 2-minute break every 2 hours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348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Keep a notepad to offload looping thoughts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66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End work with a shutdown ritual to close open loops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98E"/>
                </a:solidFill>
                <a:latin typeface="Calibri"/>
              </a:rPr>
              <a:t>Type 3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548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Social Rest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896A"/>
                </a:solidFill>
                <a:latin typeface="Calibri"/>
              </a:rPr>
              <a:t>Right Relationships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6D8"/>
                </a:solidFill>
                <a:latin typeface="Calibri"/>
              </a:rPr>
              <a:t>The ability to differentiate between relationships that restore and those that drain — and to get more of the former. This isn't about being antisocial; it's about being intentional.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D4CC"/>
                </a:solidFill>
                <a:latin typeface="Calibri"/>
              </a:rPr>
              <a:t>SIGNS OF DEFICIT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84448"/>
            <a:ext cx="5029200" cy="38100"/>
          </a:xfrm>
          <a:prstGeom prst="rect">
            <a:avLst/>
          </a:prstGeom>
          <a:solidFill>
            <a:srgbClr val="F2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Dread seeing certain people (even ones you love)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Feel lonely even in 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66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Exhausted after interactions you "should" enjoy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896A"/>
                </a:solidFill>
                <a:latin typeface="Calibri"/>
              </a:rPr>
              <a:t>RECOVERY STRATEGIES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584448"/>
            <a:ext cx="502920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Identify your 3–5 restorative relationships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348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Set limits on energy-draining interactions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66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Be real instead of performing — authentic connection restores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98E"/>
                </a:solidFill>
                <a:latin typeface="Calibri"/>
              </a:rPr>
              <a:t>Type 4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548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Creative Rest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896A"/>
                </a:solidFill>
                <a:latin typeface="Calibri"/>
              </a:rPr>
              <a:t>Inspire the Imagination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6D8"/>
                </a:solidFill>
                <a:latin typeface="Calibri"/>
              </a:rPr>
              <a:t>The space that allows wonder, inspiration, and beauty to replenish the parts of us that problem-solve, create, and innovate. Without it, thinking becomes mechanical.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D4CC"/>
                </a:solidFill>
                <a:latin typeface="Calibri"/>
              </a:rPr>
              <a:t>SIGNS OF DEFICIT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84448"/>
            <a:ext cx="5029200" cy="38100"/>
          </a:xfrm>
          <a:prstGeom prst="rect">
            <a:avLst/>
          </a:prstGeom>
          <a:solidFill>
            <a:srgbClr val="F2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Everything feels like a chore or obligation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You've lost curiosity about things that used to excite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66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Problem-solving feels forced and flat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896A"/>
                </a:solidFill>
                <a:latin typeface="Calibri"/>
              </a:rPr>
              <a:t>RECOVERY STRATEGIES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584448"/>
            <a:ext cx="502920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Consume beauty — art, nature, music — without an agenda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348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Let yourself play without a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66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Take a different route. Rearrange your environment. Notice more.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98E"/>
                </a:solidFill>
                <a:latin typeface="Calibri"/>
              </a:rPr>
              <a:t>Type 5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  <a:latin typeface="Calibri"/>
              </a:rPr>
              <a:t>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548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Emotional Rest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896A"/>
                </a:solidFill>
                <a:latin typeface="Calibri"/>
              </a:rPr>
              <a:t>Permission to Feel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6D8"/>
                </a:solidFill>
                <a:latin typeface="Calibri"/>
              </a:rPr>
              <a:t>The freedom to express how you actually feel rather than the feelings others need you to have. Critical for caregivers, leaders, parents — anyone who has to manage their emotions for others.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D4CC"/>
                </a:solidFill>
                <a:latin typeface="Calibri"/>
              </a:rPr>
              <a:t>SIGNS OF DEFICIT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84448"/>
            <a:ext cx="5029200" cy="38100"/>
          </a:xfrm>
          <a:prstGeom prst="rect">
            <a:avLst/>
          </a:prstGeom>
          <a:solidFill>
            <a:srgbClr val="F2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Performing "okay" when you're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Feeling resentful without knowing 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66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Emotional numbing or unexpected breakdowns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896A"/>
                </a:solidFill>
                <a:latin typeface="Calibri"/>
              </a:rPr>
              <a:t>RECOVERY STRATEGIES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584448"/>
            <a:ext cx="502920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Find one person you can be completely honest with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348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Stop saying "I'm fine" when you're not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66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Journal without editing — no performance, just truth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98E"/>
                </a:solidFill>
                <a:latin typeface="Calibri"/>
              </a:rPr>
              <a:t>Type 6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  <a:latin typeface="Calibri"/>
              </a:rPr>
              <a:t>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548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Sensory Rest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896A"/>
                </a:solidFill>
                <a:latin typeface="Calibri"/>
              </a:rPr>
              <a:t>Turn Down the Volume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6D8"/>
                </a:solidFill>
                <a:latin typeface="Calibri"/>
              </a:rPr>
              <a:t>Relief from the constant input of screens, noise, notifications, and artificial environments. Our nervous systems were not designed for modern levels of stimulation — and we're paying for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D4CC"/>
                </a:solidFill>
                <a:latin typeface="Calibri"/>
              </a:rPr>
              <a:t>SIGNS OF DEFICIT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84448"/>
            <a:ext cx="5029200" cy="38100"/>
          </a:xfrm>
          <a:prstGeom prst="rect">
            <a:avLst/>
          </a:prstGeom>
          <a:solidFill>
            <a:srgbClr val="F2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Hypersensitivity to sound, light, or touch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End-of-day headaches or eye strain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66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Feeling overwhelmed in public spaces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896A"/>
                </a:solidFill>
                <a:latin typeface="Calibri"/>
              </a:rPr>
              <a:t>RECOVERY STRATEGIES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584448"/>
            <a:ext cx="502920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Deliberately end screen time 60 min before 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348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Create a daily quiet period — even 10 minutes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66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Declutter your visual environment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98E"/>
                </a:solidFill>
                <a:latin typeface="Calibri"/>
              </a:rPr>
              <a:t>Type 7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  <a:latin typeface="Calibri"/>
              </a:rPr>
              <a:t>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548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Spiritual Rest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896A"/>
                </a:solidFill>
                <a:latin typeface="Calibri"/>
              </a:rPr>
              <a:t>Connect to Purpose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C6D8"/>
                </a:solidFill>
                <a:latin typeface="Calibri"/>
              </a:rPr>
              <a:t>The sense that your life and work are part of something larger than yourself. Not necessarily religious — but deeply human. Without it, even success feels hollow.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D4CC"/>
                </a:solidFill>
                <a:latin typeface="Calibri"/>
              </a:rPr>
              <a:t>SIGNS OF DEFICIT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84448"/>
            <a:ext cx="5029200" cy="38100"/>
          </a:xfrm>
          <a:prstGeom prst="rect">
            <a:avLst/>
          </a:prstGeom>
          <a:solidFill>
            <a:srgbClr val="F2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Feeling like your work doesn't matter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Going through the motions without 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66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Disconnected from what you originally cared about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896A"/>
                </a:solidFill>
                <a:latin typeface="Calibri"/>
              </a:rPr>
              <a:t>RECOVERY STRATEGIES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584448"/>
            <a:ext cx="502920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Reconnect with your core values — write them 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348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Engage in community or service beyond yourself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66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Ask regularly: 'Does this align with what I believe matters?'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896A"/>
                </a:solidFill>
                <a:latin typeface="Calibri"/>
              </a:rPr>
              <a:t>SPEAKING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C2A4A"/>
                </a:solidFill>
                <a:latin typeface="Calibri"/>
              </a:rPr>
              <a:t>Five Signature Talks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10515600" cy="713232"/>
          </a:xfrm>
          <a:prstGeom prst="rect">
            <a:avLst/>
          </a:prstGeom>
          <a:solidFill>
            <a:srgbClr val="2C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99339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896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574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Finding Calm in a Constantly Stimulating World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713232"/>
          </a:xfrm>
          <a:prstGeom prst="rect">
            <a:avLst/>
          </a:prstGeom>
          <a:solidFill>
            <a:srgbClr val="3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88950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896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953512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Rest That Fits Real Life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12464"/>
            <a:ext cx="10515600" cy="713232"/>
          </a:xfrm>
          <a:prstGeom prst="rect">
            <a:avLst/>
          </a:prstGeom>
          <a:solidFill>
            <a:srgbClr val="2C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785616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896A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849624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Beyond Burnout: Understanding the Real Causes of Exhaustion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608576"/>
            <a:ext cx="10515600" cy="713232"/>
          </a:xfrm>
          <a:prstGeom prst="rect">
            <a:avLst/>
          </a:prstGeom>
          <a:solidFill>
            <a:srgbClr val="3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68172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896A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74573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Emotional Skills That Keep Relationships Strong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504688"/>
            <a:ext cx="10515600" cy="713232"/>
          </a:xfrm>
          <a:prstGeom prst="rect">
            <a:avLst/>
          </a:prstGeom>
          <a:solidFill>
            <a:srgbClr val="2C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577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896A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64184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The Hidden Cost of Always Being the Strong 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896A"/>
                </a:solidFill>
                <a:latin typeface="Calibri"/>
              </a:rPr>
              <a:t>HOW WE WORK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Flexible Engagement Formats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0320" cy="3931920"/>
          </a:xfrm>
          <a:prstGeom prst="rect">
            <a:avLst/>
          </a:prstGeom>
          <a:solidFill>
            <a:srgbClr val="3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Keynote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611880"/>
            <a:ext cx="1463040" cy="254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896A"/>
                </a:solidFill>
                <a:latin typeface="Calibri"/>
              </a:rPr>
              <a:t>45–90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AEC8"/>
                </a:solidFill>
                <a:latin typeface="Calibri"/>
              </a:rPr>
              <a:t>High-impact, inspiring, and immediately actionable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011680"/>
            <a:ext cx="2560320" cy="3931920"/>
          </a:xfrm>
          <a:prstGeom prst="rect">
            <a:avLst/>
          </a:prstGeom>
          <a:solidFill>
            <a:srgbClr val="3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194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26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Half-Day
Workshop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611880"/>
            <a:ext cx="1463040" cy="254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896A"/>
                </a:solidFill>
                <a:latin typeface="Calibri"/>
              </a:rPr>
              <a:t>3–4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160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AEC8"/>
                </a:solidFill>
                <a:latin typeface="Calibri"/>
              </a:rPr>
              <a:t>Guided assessment, small groups, action planning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011680"/>
            <a:ext cx="2560320" cy="3931920"/>
          </a:xfrm>
          <a:prstGeom prst="rect">
            <a:avLst/>
          </a:prstGeom>
          <a:solidFill>
            <a:srgbClr val="3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194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926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Full-Day
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611880"/>
            <a:ext cx="1463040" cy="254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896A"/>
                </a:solidFill>
                <a:latin typeface="Calibri"/>
              </a:rPr>
              <a:t>Full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160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AEC8"/>
                </a:solidFill>
                <a:latin typeface="Calibri"/>
              </a:rPr>
              <a:t>Deep-dive for HR, wellness teams, or leadership cohorts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2011680"/>
            <a:ext cx="2560320" cy="3931920"/>
          </a:xfrm>
          <a:prstGeom prst="rect">
            <a:avLst/>
          </a:prstGeom>
          <a:solidFill>
            <a:srgbClr val="3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2194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926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Virtual
Session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3611880"/>
            <a:ext cx="1463040" cy="254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896A"/>
                </a:solidFill>
                <a:latin typeface="Calibri"/>
              </a:rPr>
              <a:t>Any length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160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AEC8"/>
                </a:solidFill>
                <a:latin typeface="Calibri"/>
              </a:rPr>
              <a:t>All formats available live online for distributed teams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126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8896A"/>
                </a:solidFill>
                <a:latin typeface="Calibri"/>
              </a:rPr>
              <a:t>All topics can be customized for your specific audience, industry, and outcomes.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C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896A"/>
                </a:solidFill>
                <a:latin typeface="Calibri"/>
              </a:rPr>
              <a:t>WHAT PEOPLE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C2A4A"/>
                </a:solidFill>
                <a:latin typeface="Calibri"/>
              </a:rPr>
              <a:t>Voices From the 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3566160" cy="4114800"/>
          </a:xfrm>
          <a:prstGeom prst="rect">
            <a:avLst/>
          </a:prstGeom>
          <a:solidFill>
            <a:srgbClr val="2C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896A"/>
                </a:solidFill>
                <a:latin typeface="Calibri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"Her insights on emotional rest were eye-opening.
I feel more balanced and at peace."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663440"/>
            <a:ext cx="228600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D4CC"/>
                </a:solidFill>
                <a:latin typeface="Calibri"/>
              </a:rPr>
              <a:t>Jimmelynn 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EBE"/>
                </a:solidFill>
                <a:latin typeface="Calibri"/>
              </a:rPr>
              <a:t>CEO, Girls Nite In International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011680"/>
            <a:ext cx="3566160" cy="4114800"/>
          </a:xfrm>
          <a:prstGeom prst="rect">
            <a:avLst/>
          </a:prstGeom>
          <a:solidFill>
            <a:srgbClr val="2C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896A"/>
                </a:solidFill>
                <a:latin typeface="Calibri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"Cindy's passion for rest is contagious. I left feeling
empowered and ready to implement."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4663440"/>
            <a:ext cx="228600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D4CC"/>
                </a:solidFill>
                <a:latin typeface="Calibri"/>
              </a:rPr>
              <a:t>Jessica Baker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EBE"/>
                </a:solidFill>
                <a:latin typeface="Calibri"/>
              </a:rPr>
              <a:t>Advisor-Scientist, Eli Lilly &amp; Co.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011680"/>
            <a:ext cx="3566160" cy="4114800"/>
          </a:xfrm>
          <a:prstGeom prst="rect">
            <a:avLst/>
          </a:prstGeom>
          <a:solidFill>
            <a:srgbClr val="2C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1031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896A"/>
                </a:solidFill>
                <a:latin typeface="Calibri"/>
              </a:rPr>
              <a:t>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"Nurse Cindy's talk transformed my perspective on rest.
This showed me how wrong I was — in the best way."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4663440"/>
            <a:ext cx="2286000" cy="381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D4CC"/>
                </a:solidFill>
                <a:latin typeface="Calibri"/>
              </a:rPr>
              <a:t>Cindy Modafferi, 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EBE"/>
                </a:solidFill>
                <a:latin typeface="Calibri"/>
              </a:rPr>
              <a:t>Registered Nurse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8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896A"/>
                </a:solidFill>
                <a:latin typeface="Calibri"/>
              </a:rPr>
              <a:t>READY TO BRING REST SCIENCE TO YOUR TEAM?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Book Nurse Cindy
for Your Next 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108960"/>
            <a:ext cx="7616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AEC8"/>
                </a:solidFill>
                <a:latin typeface="Calibri"/>
              </a:rPr>
              <a:t>Nurse Cindy works with organizations of all sizes — from intimate leadership retreats
to large conferences — to deliver experiences that change how people relate to rest.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023360"/>
            <a:ext cx="3017520" cy="1280160"/>
          </a:xfrm>
          <a:prstGeom prst="rect">
            <a:avLst/>
          </a:prstGeom>
          <a:solidFill>
            <a:srgbClr val="3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896A"/>
                </a:solidFill>
                <a:latin typeface="Calibri"/>
              </a:rPr>
              <a:t>✉ 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26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cindy.callingallnurses@gmail.com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4023360"/>
            <a:ext cx="3017520" cy="1280160"/>
          </a:xfrm>
          <a:prstGeom prst="rect">
            <a:avLst/>
          </a:prstGeom>
          <a:solidFill>
            <a:srgbClr val="3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4114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896A"/>
                </a:solidFill>
                <a:latin typeface="Calibri"/>
              </a:rPr>
              <a:t>🌐 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526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nursecindycares.com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4023360"/>
            <a:ext cx="3017520" cy="1280160"/>
          </a:xfrm>
          <a:prstGeom prst="rect">
            <a:avLst/>
          </a:prstGeom>
          <a:solidFill>
            <a:srgbClr val="3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114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896A"/>
                </a:solidFill>
                <a:latin typeface="Calibri"/>
              </a:rPr>
              <a:t>📧  General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526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info@nursecindy.com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98E"/>
                </a:solidFill>
                <a:latin typeface="Calibri"/>
              </a:rPr>
              <a:t>Empowered by Rest.  |  nursecindycares.com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